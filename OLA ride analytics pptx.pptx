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4" r:id="rId2"/>
    <p:sldId id="261" r:id="rId3"/>
    <p:sldId id="257" r:id="rId4"/>
    <p:sldId id="258" r:id="rId5"/>
    <p:sldId id="259" r:id="rId6"/>
    <p:sldId id="260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95020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97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2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121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06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11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478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408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58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475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80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38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49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364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86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1323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747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13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BB7BD2-71DE-7764-5045-326446D079AD}"/>
              </a:ext>
            </a:extLst>
          </p:cNvPr>
          <p:cNvSpPr txBox="1"/>
          <p:nvPr/>
        </p:nvSpPr>
        <p:spPr>
          <a:xfrm>
            <a:off x="1101213" y="625597"/>
            <a:ext cx="7934632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90000"/>
              </a:lnSpc>
              <a:spcAft>
                <a:spcPts val="600"/>
              </a:spcAft>
            </a:pPr>
            <a:r>
              <a:rPr lang="en-US" sz="4800" dirty="0"/>
              <a:t>OLA Ride Analytics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D7881F-442F-E2E8-BC4C-882653781D6E}"/>
              </a:ext>
            </a:extLst>
          </p:cNvPr>
          <p:cNvSpPr txBox="1"/>
          <p:nvPr/>
        </p:nvSpPr>
        <p:spPr>
          <a:xfrm>
            <a:off x="3637935" y="6047737"/>
            <a:ext cx="5260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dirty="0"/>
              <a:t>Presented by: Molieswar Jaikumar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5E45A5-1A3B-1C62-73FD-B6009761B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684" y="1600682"/>
            <a:ext cx="283169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063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79E681-C3B8-A98D-9522-C09987C7A3F3}"/>
              </a:ext>
            </a:extLst>
          </p:cNvPr>
          <p:cNvSpPr txBox="1"/>
          <p:nvPr/>
        </p:nvSpPr>
        <p:spPr>
          <a:xfrm>
            <a:off x="1113063" y="275129"/>
            <a:ext cx="7598753" cy="1996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200" dirty="0"/>
              <a:t>OLA Ride Analytics Dashboard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The objective of this project is to analyze OLA ride booking data to understand customer behavior, booking trends, revenue generation, cancellation patterns, and service quality.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C66364-822D-A648-5D40-F10E2A8ED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543162"/>
              </p:ext>
            </p:extLst>
          </p:nvPr>
        </p:nvGraphicFramePr>
        <p:xfrm>
          <a:off x="2966803" y="2271252"/>
          <a:ext cx="4221014" cy="3714963"/>
        </p:xfrm>
        <a:graphic>
          <a:graphicData uri="http://schemas.openxmlformats.org/drawingml/2006/table">
            <a:tbl>
              <a:tblPr/>
              <a:tblGrid>
                <a:gridCol w="1396316">
                  <a:extLst>
                    <a:ext uri="{9D8B030D-6E8A-4147-A177-3AD203B41FA5}">
                      <a16:colId xmlns:a16="http://schemas.microsoft.com/office/drawing/2014/main" val="2107283007"/>
                    </a:ext>
                  </a:extLst>
                </a:gridCol>
                <a:gridCol w="2824698">
                  <a:extLst>
                    <a:ext uri="{9D8B030D-6E8A-4147-A177-3AD203B41FA5}">
                      <a16:colId xmlns:a16="http://schemas.microsoft.com/office/drawing/2014/main" val="2125681406"/>
                    </a:ext>
                  </a:extLst>
                </a:gridCol>
              </a:tblGrid>
              <a:tr h="4617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100" b="1" dirty="0"/>
                        <a:t>Tool Used</a:t>
                      </a:r>
                    </a:p>
                  </a:txBody>
                  <a:tcPr marL="104942" marR="104942" marT="52471" marB="524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100" b="1" dirty="0"/>
                        <a:t>Purpose</a:t>
                      </a:r>
                    </a:p>
                  </a:txBody>
                  <a:tcPr marL="104942" marR="104942" marT="52471" marB="524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635445"/>
                  </a:ext>
                </a:extLst>
              </a:tr>
              <a:tr h="77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/>
                        <a:t>Python</a:t>
                      </a:r>
                    </a:p>
                  </a:txBody>
                  <a:tcPr marL="104942" marR="104942" marT="52471" marB="524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Data Cleaning &amp; Analysis</a:t>
                      </a:r>
                    </a:p>
                  </a:txBody>
                  <a:tcPr marL="104942" marR="104942" marT="52471" marB="524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086421"/>
                  </a:ext>
                </a:extLst>
              </a:tr>
              <a:tr h="461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Pandas</a:t>
                      </a:r>
                    </a:p>
                  </a:txBody>
                  <a:tcPr marL="104942" marR="104942" marT="52471" marB="524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/>
                        <a:t>Data Manipulation</a:t>
                      </a:r>
                    </a:p>
                  </a:txBody>
                  <a:tcPr marL="104942" marR="104942" marT="52471" marB="524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6280621"/>
                  </a:ext>
                </a:extLst>
              </a:tr>
              <a:tr h="77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MySQL</a:t>
                      </a:r>
                    </a:p>
                  </a:txBody>
                  <a:tcPr marL="104942" marR="104942" marT="52471" marB="524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/>
                        <a:t>Data Storage &amp; Querying</a:t>
                      </a:r>
                    </a:p>
                  </a:txBody>
                  <a:tcPr marL="104942" marR="104942" marT="52471" marB="524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12935"/>
                  </a:ext>
                </a:extLst>
              </a:tr>
              <a:tr h="461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/>
                        <a:t>Streamlit</a:t>
                      </a:r>
                    </a:p>
                  </a:txBody>
                  <a:tcPr marL="104942" marR="104942" marT="52471" marB="524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/>
                        <a:t>Web Dashboard</a:t>
                      </a:r>
                    </a:p>
                  </a:txBody>
                  <a:tcPr marL="104942" marR="104942" marT="52471" marB="524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984958"/>
                  </a:ext>
                </a:extLst>
              </a:tr>
              <a:tr h="7765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/>
                        <a:t>Power BI</a:t>
                      </a:r>
                    </a:p>
                  </a:txBody>
                  <a:tcPr marL="104942" marR="104942" marT="52471" marB="524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100" dirty="0"/>
                        <a:t>Business Intelligence Dashboard</a:t>
                      </a:r>
                    </a:p>
                  </a:txBody>
                  <a:tcPr marL="104942" marR="104942" marT="52471" marB="524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656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129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49036" y="738051"/>
            <a:ext cx="2847230" cy="26909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200"/>
            </a:pPr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Workflow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7A6283B-5F16-0B1F-BC90-904E21DE50BC}"/>
              </a:ext>
            </a:extLst>
          </p:cNvPr>
          <p:cNvGrpSpPr/>
          <p:nvPr/>
        </p:nvGrpSpPr>
        <p:grpSpPr>
          <a:xfrm>
            <a:off x="4055778" y="1941006"/>
            <a:ext cx="4472040" cy="2682769"/>
            <a:chOff x="731520" y="914400"/>
            <a:chExt cx="7315200" cy="1569688"/>
          </a:xfrm>
        </p:grpSpPr>
        <p:sp>
          <p:nvSpPr>
            <p:cNvPr id="3" name="TextBox 2"/>
            <p:cNvSpPr txBox="1"/>
            <p:nvPr/>
          </p:nvSpPr>
          <p:spPr>
            <a:xfrm>
              <a:off x="731520" y="914400"/>
              <a:ext cx="7315200" cy="1980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278892">
                <a:spcAft>
                  <a:spcPts val="600"/>
                </a:spcAft>
              </a:pPr>
              <a:r>
                <a:rPr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• Data Cleaning using Pandas</a:t>
              </a:r>
              <a:endParaRPr sz="1600" dirty="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31520" y="1371600"/>
              <a:ext cx="4757389" cy="19808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278892">
                <a:spcAft>
                  <a:spcPts val="600"/>
                </a:spcAft>
              </a:pPr>
              <a:r>
                <a:rPr sz="1098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• </a:t>
              </a:r>
              <a:r>
                <a:rPr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Data stored in MySQL Database</a:t>
              </a:r>
              <a:endParaRPr sz="1600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31520" y="1828800"/>
              <a:ext cx="5090401" cy="19808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278892">
                <a:spcAft>
                  <a:spcPts val="600"/>
                </a:spcAft>
              </a:pPr>
              <a:r>
                <a:rPr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• SQL Queries for Business Analysis</a:t>
              </a:r>
              <a:endParaRPr sz="16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31520" y="2286000"/>
              <a:ext cx="5345378" cy="19808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defTabSz="278892">
                <a:spcAft>
                  <a:spcPts val="600"/>
                </a:spcAft>
              </a:pPr>
              <a:r>
                <a:rPr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• Power BI and </a:t>
              </a:r>
              <a:r>
                <a:rPr sz="1600" kern="1200" dirty="0" err="1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Streamlit</a:t>
              </a:r>
              <a:r>
                <a:rPr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 Dashboards</a:t>
              </a:r>
              <a:endParaRPr sz="16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B7E91DE-AEAA-7997-278C-A84F526AFDCA}"/>
              </a:ext>
            </a:extLst>
          </p:cNvPr>
          <p:cNvSpPr txBox="1"/>
          <p:nvPr/>
        </p:nvSpPr>
        <p:spPr>
          <a:xfrm>
            <a:off x="571351" y="265472"/>
            <a:ext cx="3485179" cy="6090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500" b="1" dirty="0"/>
              <a:t>Data Analysis &amp; Key Performance Indicators (KPIs)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Total Rides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Measures overall platform usage and customer engagement.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Revenue Generated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Calculated from successfully completed rides.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Active Customers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Unique customers who booked rides.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Average Ride Distance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Average distance travelled per booking.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Customer Ratings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Measures customer satisfaction levels.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Driver Ratings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Evaluates driver performance and service quality.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Payment Analysis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Identifies preferred payment methods.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Cancellation Rate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500" dirty="0"/>
              <a:t>Tracks operational inefficiencies and customer dissatisfaction</a:t>
            </a:r>
            <a:r>
              <a:rPr lang="en-US" sz="900" dirty="0"/>
              <a:t>.</a:t>
            </a:r>
          </a:p>
        </p:txBody>
      </p:sp>
      <p:pic>
        <p:nvPicPr>
          <p:cNvPr id="19" name="Picture 18" descr="3D Hologram from iPad">
            <a:extLst>
              <a:ext uri="{FF2B5EF4-FFF2-40B4-BE49-F238E27FC236}">
                <a16:creationId xmlns:a16="http://schemas.microsoft.com/office/drawing/2014/main" id="{41A6A48B-66AA-E3F5-FA43-F28CBAC38E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73" r="36377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0526A0CC-518E-9425-9852-249081F701EB}"/>
              </a:ext>
            </a:extLst>
          </p:cNvPr>
          <p:cNvSpPr txBox="1"/>
          <p:nvPr/>
        </p:nvSpPr>
        <p:spPr>
          <a:xfrm>
            <a:off x="0" y="55338"/>
            <a:ext cx="4566879" cy="65258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dirty="0">
                <a:latin typeface="+mj-lt"/>
                <a:ea typeface="+mj-ea"/>
                <a:cs typeface="+mj-cs"/>
              </a:rPr>
              <a:t>Major Insights from Analysis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3BF9A5-1AD6-1533-5CFA-14F5F3E22365}"/>
              </a:ext>
            </a:extLst>
          </p:cNvPr>
          <p:cNvSpPr txBox="1"/>
          <p:nvPr/>
        </p:nvSpPr>
        <p:spPr>
          <a:xfrm>
            <a:off x="5121" y="3146322"/>
            <a:ext cx="4087659" cy="26889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Customer Behavior Analysis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Top Customers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Identified customers with the highest number of bookings.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b="1" dirty="0"/>
              <a:t>Business Value:</a:t>
            </a:r>
            <a:endParaRPr lang="en-US" sz="1700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Helps design loyalty programs.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Improves customer retention.</a:t>
            </a:r>
          </a:p>
        </p:txBody>
      </p:sp>
      <p:pic>
        <p:nvPicPr>
          <p:cNvPr id="31" name="Picture 30" descr="Magnifying glass showing decling performance">
            <a:extLst>
              <a:ext uri="{FF2B5EF4-FFF2-40B4-BE49-F238E27FC236}">
                <a16:creationId xmlns:a16="http://schemas.microsoft.com/office/drawing/2014/main" id="{3595CA19-A5B7-6CEE-6D20-26608C9B33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43" r="43006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E36D0D8-9866-9639-6532-407B81C0E2DC}"/>
              </a:ext>
            </a:extLst>
          </p:cNvPr>
          <p:cNvSpPr txBox="1"/>
          <p:nvPr/>
        </p:nvSpPr>
        <p:spPr>
          <a:xfrm>
            <a:off x="4572000" y="1463185"/>
            <a:ext cx="4572000" cy="206210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IN" b="1" dirty="0"/>
              <a:t>Payment Method Analysis</a:t>
            </a:r>
          </a:p>
          <a:p>
            <a:pPr>
              <a:spcAft>
                <a:spcPts val="600"/>
              </a:spcAft>
              <a:buNone/>
            </a:pPr>
            <a:r>
              <a:rPr lang="en-IN" dirty="0"/>
              <a:t>UPI emerged as one of the most preferred payment methods.</a:t>
            </a:r>
          </a:p>
          <a:p>
            <a:pPr>
              <a:spcAft>
                <a:spcPts val="600"/>
              </a:spcAft>
              <a:buNone/>
            </a:pPr>
            <a:r>
              <a:rPr lang="en-IN" b="1" dirty="0"/>
              <a:t>Business Value:</a:t>
            </a:r>
            <a:endParaRPr lang="en-IN" dirty="0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/>
              <a:t>Indicates growing digital payment adoption. 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/>
              <a:t>Supports cashless transaction strategies.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2677B8-DA59-577A-1679-CB3DD4B8068D}"/>
              </a:ext>
            </a:extLst>
          </p:cNvPr>
          <p:cNvSpPr txBox="1"/>
          <p:nvPr/>
        </p:nvSpPr>
        <p:spPr>
          <a:xfrm>
            <a:off x="-5120" y="763260"/>
            <a:ext cx="40979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IN" b="1" dirty="0"/>
              <a:t>Ride Distance Analysis</a:t>
            </a:r>
          </a:p>
          <a:p>
            <a:pPr>
              <a:spcAft>
                <a:spcPts val="600"/>
              </a:spcAft>
              <a:buNone/>
            </a:pPr>
            <a:r>
              <a:rPr lang="en-IN" dirty="0"/>
              <a:t>Different vehicle types showed varying average ride distances.</a:t>
            </a:r>
          </a:p>
          <a:p>
            <a:pPr>
              <a:spcAft>
                <a:spcPts val="600"/>
              </a:spcAft>
              <a:buNone/>
            </a:pPr>
            <a:r>
              <a:rPr lang="en-IN" b="1" dirty="0"/>
              <a:t>Business Value:</a:t>
            </a:r>
            <a:endParaRPr lang="en-IN" dirty="0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/>
              <a:t>Helps optimize fleet allocation. 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/>
              <a:t>Improves route planning.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B07E2D-C7CE-4841-B19F-D4C178747B84}"/>
              </a:ext>
            </a:extLst>
          </p:cNvPr>
          <p:cNvSpPr txBox="1"/>
          <p:nvPr/>
        </p:nvSpPr>
        <p:spPr>
          <a:xfrm>
            <a:off x="4566879" y="4251178"/>
            <a:ext cx="4572000" cy="206210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IN" b="1" dirty="0"/>
              <a:t>Rating Analysis</a:t>
            </a:r>
          </a:p>
          <a:p>
            <a:pPr>
              <a:spcAft>
                <a:spcPts val="600"/>
              </a:spcAft>
              <a:buNone/>
            </a:pPr>
            <a:r>
              <a:rPr lang="en-IN" dirty="0"/>
              <a:t>Customer and driver ratings reveal service quality trends.</a:t>
            </a:r>
          </a:p>
          <a:p>
            <a:pPr>
              <a:spcAft>
                <a:spcPts val="600"/>
              </a:spcAft>
              <a:buNone/>
            </a:pPr>
            <a:r>
              <a:rPr lang="en-IN" b="1" dirty="0"/>
              <a:t>Business Value:</a:t>
            </a:r>
            <a:endParaRPr lang="en-IN" dirty="0"/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/>
              <a:t>Identifies high-performing drivers. </a:t>
            </a:r>
          </a:p>
          <a:p>
            <a:pPr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/>
              <a:t>Highlights areas needing improvement.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3347" y="167389"/>
            <a:ext cx="34786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lang="en-IN" dirty="0"/>
              <a:t>Power BI Dashboard</a:t>
            </a:r>
            <a:endParaRPr lang="en-IN" sz="2400" dirty="0"/>
          </a:p>
          <a:p>
            <a:pPr>
              <a:defRPr sz="2200"/>
            </a:pP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1D1659-29EB-04C7-43AB-3D830B41ED50}"/>
              </a:ext>
            </a:extLst>
          </p:cNvPr>
          <p:cNvSpPr txBox="1"/>
          <p:nvPr/>
        </p:nvSpPr>
        <p:spPr>
          <a:xfrm>
            <a:off x="847539" y="763745"/>
            <a:ext cx="359664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Visualizations Created</a:t>
            </a:r>
          </a:p>
          <a:p>
            <a:pPr>
              <a:buNone/>
            </a:pPr>
            <a:r>
              <a:rPr lang="en-IN" dirty="0"/>
              <a:t>📈 Ride Volume Over Time</a:t>
            </a:r>
          </a:p>
          <a:p>
            <a:pPr>
              <a:buNone/>
            </a:pPr>
            <a:r>
              <a:rPr lang="en-IN" dirty="0"/>
              <a:t>📊 Booking Status Breakdown</a:t>
            </a:r>
          </a:p>
          <a:p>
            <a:pPr>
              <a:buNone/>
            </a:pPr>
            <a:r>
              <a:rPr lang="en-IN" dirty="0"/>
              <a:t>💰 Revenue Analysis</a:t>
            </a:r>
          </a:p>
          <a:p>
            <a:pPr>
              <a:buNone/>
            </a:pPr>
            <a:r>
              <a:rPr lang="en-IN" dirty="0"/>
              <a:t>🚗 Vehicle Type Performance</a:t>
            </a:r>
          </a:p>
          <a:p>
            <a:pPr>
              <a:buNone/>
            </a:pPr>
            <a:r>
              <a:rPr lang="en-IN" dirty="0"/>
              <a:t>⭐ Customer Rating Analysis</a:t>
            </a:r>
          </a:p>
          <a:p>
            <a:pPr>
              <a:buNone/>
            </a:pPr>
            <a:r>
              <a:rPr lang="en-IN" dirty="0"/>
              <a:t>❌ Cancellation Analysis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Key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Interactive Filters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Dynamic KPI Cards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Drill-Down Capability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Real-Time Insights 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Easy decision-making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Business performance monitoring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Quick identification of trends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6C9590-A185-B780-48EA-70FA846A27C8}"/>
              </a:ext>
            </a:extLst>
          </p:cNvPr>
          <p:cNvSpPr txBox="1"/>
          <p:nvPr/>
        </p:nvSpPr>
        <p:spPr>
          <a:xfrm>
            <a:off x="4444180" y="17218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Streamlit Web 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C38108-F198-11C2-CDE3-CF4BD791FD39}"/>
              </a:ext>
            </a:extLst>
          </p:cNvPr>
          <p:cNvSpPr txBox="1"/>
          <p:nvPr/>
        </p:nvSpPr>
        <p:spPr>
          <a:xfrm>
            <a:off x="4444180" y="763745"/>
            <a:ext cx="4572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Dashboard Overview</a:t>
            </a:r>
          </a:p>
          <a:p>
            <a:pPr>
              <a:buNone/>
            </a:pPr>
            <a:r>
              <a:rPr lang="en-IN" b="1" dirty="0"/>
              <a:t>Displays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Total Rides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Revenue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Customer Count 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Analysis Modules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Successful Bookings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Average Ride Distance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Customer Cancellations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Driver Cancellations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Top Customers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Payment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Ratings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Ride Details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73AF4A-C0AD-7AB5-762D-9986DD52F43F}"/>
              </a:ext>
            </a:extLst>
          </p:cNvPr>
          <p:cNvSpPr txBox="1"/>
          <p:nvPr/>
        </p:nvSpPr>
        <p:spPr>
          <a:xfrm>
            <a:off x="1347019" y="344129"/>
            <a:ext cx="714805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Conclusion</a:t>
            </a:r>
          </a:p>
          <a:p>
            <a:pPr>
              <a:buNone/>
            </a:pPr>
            <a:r>
              <a:rPr lang="en-IN" dirty="0"/>
              <a:t>The project successfully analysed OLA ride booking data using SQL, Python, Power BI, and Streamlit.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Key Outcomes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Identified booking trends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Analysed customer behaviour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Evaluated cancellation patterns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Measured service quality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Built interactive dashboards for decision-making 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Future Scope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Ride Demand Forecasting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Revenue Prediction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Customer Churn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Driver Performance Prediction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Real-Time Dashboard Integration </a:t>
            </a:r>
          </a:p>
        </p:txBody>
      </p:sp>
    </p:spTree>
    <p:extLst>
      <p:ext uri="{BB962C8B-B14F-4D97-AF65-F5344CB8AC3E}">
        <p14:creationId xmlns:p14="http://schemas.microsoft.com/office/powerpoint/2010/main" val="2605379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849C79-0A28-DA2B-C978-4C22CDC14D97}"/>
              </a:ext>
            </a:extLst>
          </p:cNvPr>
          <p:cNvSpPr txBox="1"/>
          <p:nvPr/>
        </p:nvSpPr>
        <p:spPr>
          <a:xfrm>
            <a:off x="2182761" y="1927123"/>
            <a:ext cx="55453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/>
              <a:t>Thank you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44559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55</TotalTime>
  <Words>408</Words>
  <Application>Microsoft Office PowerPoint</Application>
  <PresentationFormat>On-screen Show (4:3)</PresentationFormat>
  <Paragraphs>114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Corbel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moli eswar</cp:lastModifiedBy>
  <cp:revision>4</cp:revision>
  <dcterms:created xsi:type="dcterms:W3CDTF">2013-01-27T09:14:16Z</dcterms:created>
  <dcterms:modified xsi:type="dcterms:W3CDTF">2026-06-16T08:42:38Z</dcterms:modified>
  <cp:category/>
</cp:coreProperties>
</file>